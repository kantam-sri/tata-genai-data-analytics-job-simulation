
<file path=[Content_Types].xml><?xml version="1.0" encoding="utf-8"?>
<Types xmlns="http://schemas.openxmlformats.org/package/2006/content-types">
  <Default Extension="fntdata" ContentType="application/x-fontdata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59" r:id="rId1"/>
  </p:sldMasterIdLst>
  <p:notesMasterIdLst>
    <p:notesMasterId r:id="rId8"/>
  </p:notesMasterIdLst>
  <p:sldIdLst>
    <p:sldId id="256" r:id="rId2"/>
    <p:sldId id="257" r:id="rId3"/>
    <p:sldId id="259" r:id="rId4"/>
    <p:sldId id="260" r:id="rId5"/>
    <p:sldId id="261" r:id="rId6"/>
    <p:sldId id="262" r:id="rId7"/>
  </p:sldIdLst>
  <p:sldSz cx="9144000" cy="5143500" type="screen16x9"/>
  <p:notesSz cx="6858000" cy="9144000"/>
  <p:embeddedFontLst>
    <p:embeddedFont>
      <p:font typeface="Roboto" panose="02000000000000000000" pitchFamily="2" charset="0"/>
      <p:regular r:id="rId9"/>
      <p:bold r:id="rId10"/>
      <p:italic r:id="rId11"/>
      <p:boldItalic r:id="rId12"/>
    </p:embeddedFont>
    <p:embeddedFont>
      <p:font typeface="Roboto Slab" pitchFamily="2" charset="0"/>
      <p:regular r:id="rId13"/>
      <p:bold r:id="rId14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2E584E98-F22C-4E6F-8C55-6CFEC2229C57}">
  <a:tblStyle styleId="{2E584E98-F22C-4E6F-8C55-6CFEC2229C57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/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1"/>
    <p:restoredTop sz="81408"/>
  </p:normalViewPr>
  <p:slideViewPr>
    <p:cSldViewPr snapToGrid="0">
      <p:cViewPr varScale="1">
        <p:scale>
          <a:sx n="132" d="100"/>
          <a:sy n="132" d="100"/>
        </p:scale>
        <p:origin x="944" y="176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notesMaster" Target="notesMasters/notesMaster1.xml"/><Relationship Id="rId9" Type="http://schemas.openxmlformats.org/officeDocument/2006/relationships/font" Target="fonts/font1.fntdata"/><Relationship Id="rId10" Type="http://schemas.openxmlformats.org/officeDocument/2006/relationships/font" Target="fonts/font2.fntdata"/><Relationship Id="rId11" Type="http://schemas.openxmlformats.org/officeDocument/2006/relationships/font" Target="fonts/font3.fntdata"/><Relationship Id="rId12" Type="http://schemas.openxmlformats.org/officeDocument/2006/relationships/font" Target="fonts/font4.fntdata"/><Relationship Id="rId13" Type="http://schemas.openxmlformats.org/officeDocument/2006/relationships/font" Target="fonts/font5.fntdata"/><Relationship Id="rId14" Type="http://schemas.openxmlformats.org/officeDocument/2006/relationships/font" Target="fonts/font6.fntdata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1" name="Google Shape;61;p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g3516fb96bfd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7" name="Google Shape;67;g3516fb96bfd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>
              <a:buNone/>
            </a:pPr>
            <a:r>
              <a:rPr lang="en-GB" b="1" dirty="0"/>
              <a:t>Prompts to try:</a:t>
            </a:r>
            <a:endParaRPr lang="en-GB" dirty="0"/>
          </a:p>
          <a:p>
            <a:pPr>
              <a:buFont typeface="Arial" panose="020B0604020202020204" pitchFamily="34" charset="0"/>
              <a:buChar char="•"/>
            </a:pPr>
            <a:r>
              <a:rPr lang="en-GB" dirty="0"/>
              <a:t>Generate a simple outline for an AI collections system workflow, including inputs, decision logic, action triggers, and learning loop.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dirty="0"/>
              <a:t>List 3–5 key customer attributes that would be most predictive for collections decision-making, and explain why each one matters.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dirty="0"/>
              <a:t>Suggest examples of business rules and AI-driven actions the system could use at different risk levels (e.g., low, medium, high risk).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dirty="0"/>
              <a:t>Create a rough sketch or step-by-step description of how customer data flows through the system from intake to action.</a:t>
            </a: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g3516fb96bfd_0_2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9" name="Google Shape;79;g3516fb96bfd_0_2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>
              <a:buNone/>
            </a:pPr>
            <a:r>
              <a:rPr lang="en-GB" b="1" dirty="0"/>
              <a:t>Prompts to try:</a:t>
            </a:r>
            <a:endParaRPr lang="en-GB" dirty="0"/>
          </a:p>
          <a:p>
            <a:pPr>
              <a:buFont typeface="Arial" panose="020B0604020202020204" pitchFamily="34" charset="0"/>
              <a:buChar char="•"/>
            </a:pPr>
            <a:r>
              <a:rPr lang="en-GB" dirty="0"/>
              <a:t>Explain how agentic AI could automate financial collections while keeping humans in critical decision points.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dirty="0"/>
              <a:t>List 3–5 examples of collection actions, and classify each as best suited for full automation or requiring human oversight, with a brief reason why.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g3516fb96bfd_0_3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6" name="Google Shape;86;g3516fb96bfd_0_3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>
              <a:buNone/>
            </a:pPr>
            <a:r>
              <a:rPr lang="en-GB" b="1" dirty="0"/>
              <a:t>Prompts to try:</a:t>
            </a:r>
            <a:endParaRPr lang="en-GB" dirty="0"/>
          </a:p>
          <a:p>
            <a:pPr>
              <a:buFont typeface="Arial" panose="020B0604020202020204" pitchFamily="34" charset="0"/>
              <a:buChar char="•"/>
            </a:pPr>
            <a:r>
              <a:rPr lang="en-GB" dirty="0"/>
              <a:t>List key fairness, transparency, and compliance practices to build into an AI-powered credit collections system.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dirty="0"/>
              <a:t>Suggest specific ways to monitor and audit the system over time to ensure it stays fair, compliant, and effective.</a:t>
            </a: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g3516fb96bfd_0_3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2" name="Google Shape;92;g3516fb96bfd_0_3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>
              <a:buNone/>
            </a:pPr>
            <a:r>
              <a:rPr lang="en-GB" b="1" dirty="0"/>
              <a:t>Prompts to try:</a:t>
            </a:r>
            <a:endParaRPr lang="en-GB" dirty="0"/>
          </a:p>
          <a:p>
            <a:pPr>
              <a:buFont typeface="Arial" panose="020B0604020202020204" pitchFamily="34" charset="0"/>
              <a:buChar char="•"/>
            </a:pPr>
            <a:r>
              <a:rPr lang="en-GB" dirty="0"/>
              <a:t>Suggest KPIs for an AI-powered collections strategy that balances business outcomes with customer fairness.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dirty="0"/>
              <a:t>Describe 2–3 ways an AI collections system could improve both operational efficiency and customer experience.</a:t>
            </a:r>
          </a:p>
        </p:txBody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/>
          <p:nvPr/>
        </p:nvSpPr>
        <p:spPr>
          <a:xfrm>
            <a:off x="1524800" y="672606"/>
            <a:ext cx="1081625" cy="1124950"/>
          </a:xfrm>
          <a:custGeom>
            <a:avLst/>
            <a:gdLst/>
            <a:ahLst/>
            <a:cxnLst/>
            <a:rect l="l" t="t" r="r" b="b"/>
            <a:pathLst>
              <a:path w="43265" h="44998" extrusionOk="0">
                <a:moveTo>
                  <a:pt x="0" y="44998"/>
                </a:moveTo>
                <a:lnTo>
                  <a:pt x="0" y="0"/>
                </a:lnTo>
                <a:lnTo>
                  <a:pt x="43265" y="0"/>
                </a:lnTo>
              </a:path>
            </a:pathLst>
          </a:custGeom>
          <a:noFill/>
          <a:ln w="28575" cap="flat" cmpd="sng">
            <a:solidFill>
              <a:schemeClr val="accent5"/>
            </a:solidFill>
            <a:prstDash val="solid"/>
            <a:miter lim="8000"/>
            <a:headEnd type="none" w="sm" len="sm"/>
            <a:tailEnd type="none" w="sm" len="sm"/>
          </a:ln>
        </p:spPr>
      </p:sp>
      <p:sp>
        <p:nvSpPr>
          <p:cNvPr id="11" name="Google Shape;11;p2"/>
          <p:cNvSpPr/>
          <p:nvPr/>
        </p:nvSpPr>
        <p:spPr>
          <a:xfrm rot="10800000">
            <a:off x="6537563" y="3342925"/>
            <a:ext cx="1081625" cy="1124950"/>
          </a:xfrm>
          <a:custGeom>
            <a:avLst/>
            <a:gdLst/>
            <a:ahLst/>
            <a:cxnLst/>
            <a:rect l="l" t="t" r="r" b="b"/>
            <a:pathLst>
              <a:path w="43265" h="44998" extrusionOk="0">
                <a:moveTo>
                  <a:pt x="0" y="44998"/>
                </a:moveTo>
                <a:lnTo>
                  <a:pt x="0" y="0"/>
                </a:lnTo>
                <a:lnTo>
                  <a:pt x="43265" y="0"/>
                </a:lnTo>
              </a:path>
            </a:pathLst>
          </a:custGeom>
          <a:noFill/>
          <a:ln w="28575" cap="flat" cmpd="sng">
            <a:solidFill>
              <a:schemeClr val="accent5"/>
            </a:solidFill>
            <a:prstDash val="solid"/>
            <a:miter lim="8000"/>
            <a:headEnd type="none" w="sm" len="sm"/>
            <a:tailEnd type="none" w="sm" len="sm"/>
          </a:ln>
        </p:spPr>
      </p:sp>
      <p:cxnSp>
        <p:nvCxnSpPr>
          <p:cNvPr id="12" name="Google Shape;12;p2"/>
          <p:cNvCxnSpPr/>
          <p:nvPr/>
        </p:nvCxnSpPr>
        <p:spPr>
          <a:xfrm>
            <a:off x="4359602" y="2817464"/>
            <a:ext cx="424800" cy="0"/>
          </a:xfrm>
          <a:prstGeom prst="straightConnector1">
            <a:avLst/>
          </a:prstGeom>
          <a:noFill/>
          <a:ln w="38100" cap="flat" cmpd="sng">
            <a:solidFill>
              <a:schemeClr val="accent4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13" name="Google Shape;13;p2"/>
          <p:cNvSpPr txBox="1">
            <a:spLocks noGrp="1"/>
          </p:cNvSpPr>
          <p:nvPr>
            <p:ph type="ctrTitle"/>
          </p:nvPr>
        </p:nvSpPr>
        <p:spPr>
          <a:xfrm>
            <a:off x="1680302" y="1188925"/>
            <a:ext cx="5783400" cy="14574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1pPr>
            <a:lvl2pPr lvl="1" algn="ctr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2pPr>
            <a:lvl3pPr lvl="2" algn="ctr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3pPr>
            <a:lvl4pPr lvl="3" algn="ctr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4pPr>
            <a:lvl5pPr lvl="4" algn="ctr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5pPr>
            <a:lvl6pPr lvl="5" algn="ctr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6pPr>
            <a:lvl7pPr lvl="6" algn="ctr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7pPr>
            <a:lvl8pPr lvl="7" algn="ctr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8pPr>
            <a:lvl9pPr lvl="8" algn="ctr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9pPr>
          </a:lstStyle>
          <a:p>
            <a:endParaRPr/>
          </a:p>
        </p:txBody>
      </p:sp>
      <p:sp>
        <p:nvSpPr>
          <p:cNvPr id="14" name="Google Shape;14;p2"/>
          <p:cNvSpPr txBox="1">
            <a:spLocks noGrp="1"/>
          </p:cNvSpPr>
          <p:nvPr>
            <p:ph type="subTitle" idx="1"/>
          </p:nvPr>
        </p:nvSpPr>
        <p:spPr>
          <a:xfrm>
            <a:off x="1680302" y="3049450"/>
            <a:ext cx="5783400" cy="909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400"/>
              <a:buFont typeface="Roboto Slab"/>
              <a:buNone/>
              <a:defRPr sz="2400">
                <a:solidFill>
                  <a:schemeClr val="accent5"/>
                </a:solidFill>
                <a:latin typeface="Roboto Slab"/>
                <a:ea typeface="Roboto Slab"/>
                <a:cs typeface="Roboto Slab"/>
                <a:sym typeface="Roboto Slab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400"/>
              <a:buFont typeface="Roboto Slab"/>
              <a:buNone/>
              <a:defRPr sz="2400">
                <a:solidFill>
                  <a:schemeClr val="accent5"/>
                </a:solidFill>
                <a:latin typeface="Roboto Slab"/>
                <a:ea typeface="Roboto Slab"/>
                <a:cs typeface="Roboto Slab"/>
                <a:sym typeface="Roboto Slab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400"/>
              <a:buFont typeface="Roboto Slab"/>
              <a:buNone/>
              <a:defRPr sz="2400">
                <a:solidFill>
                  <a:schemeClr val="accent5"/>
                </a:solidFill>
                <a:latin typeface="Roboto Slab"/>
                <a:ea typeface="Roboto Slab"/>
                <a:cs typeface="Roboto Slab"/>
                <a:sym typeface="Roboto Slab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400"/>
              <a:buFont typeface="Roboto Slab"/>
              <a:buNone/>
              <a:defRPr sz="2400">
                <a:solidFill>
                  <a:schemeClr val="accent5"/>
                </a:solidFill>
                <a:latin typeface="Roboto Slab"/>
                <a:ea typeface="Roboto Slab"/>
                <a:cs typeface="Roboto Slab"/>
                <a:sym typeface="Roboto Slab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400"/>
              <a:buFont typeface="Roboto Slab"/>
              <a:buNone/>
              <a:defRPr sz="2400">
                <a:solidFill>
                  <a:schemeClr val="accent5"/>
                </a:solidFill>
                <a:latin typeface="Roboto Slab"/>
                <a:ea typeface="Roboto Slab"/>
                <a:cs typeface="Roboto Slab"/>
                <a:sym typeface="Roboto Slab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400"/>
              <a:buFont typeface="Roboto Slab"/>
              <a:buNone/>
              <a:defRPr sz="2400">
                <a:solidFill>
                  <a:schemeClr val="accent5"/>
                </a:solidFill>
                <a:latin typeface="Roboto Slab"/>
                <a:ea typeface="Roboto Slab"/>
                <a:cs typeface="Roboto Slab"/>
                <a:sym typeface="Roboto Slab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400"/>
              <a:buFont typeface="Roboto Slab"/>
              <a:buNone/>
              <a:defRPr sz="2400">
                <a:solidFill>
                  <a:schemeClr val="accent5"/>
                </a:solidFill>
                <a:latin typeface="Roboto Slab"/>
                <a:ea typeface="Roboto Slab"/>
                <a:cs typeface="Roboto Slab"/>
                <a:sym typeface="Roboto Slab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400"/>
              <a:buFont typeface="Roboto Slab"/>
              <a:buNone/>
              <a:defRPr sz="2400">
                <a:solidFill>
                  <a:schemeClr val="accent5"/>
                </a:solidFill>
                <a:latin typeface="Roboto Slab"/>
                <a:ea typeface="Roboto Slab"/>
                <a:cs typeface="Roboto Slab"/>
                <a:sym typeface="Roboto Slab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400"/>
              <a:buFont typeface="Roboto Slab"/>
              <a:buNone/>
              <a:defRPr sz="2400">
                <a:solidFill>
                  <a:schemeClr val="accent5"/>
                </a:solidFill>
                <a:latin typeface="Roboto Slab"/>
                <a:ea typeface="Roboto Slab"/>
                <a:cs typeface="Roboto Slab"/>
                <a:sym typeface="Roboto Slab"/>
              </a:defRPr>
            </a:lvl9pPr>
          </a:lstStyle>
          <a:p>
            <a:endParaRPr/>
          </a:p>
        </p:txBody>
      </p:sp>
      <p:sp>
        <p:nvSpPr>
          <p:cNvPr id="15" name="Google Shape;15;p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7" name="Google Shape;17;p3"/>
          <p:cNvCxnSpPr/>
          <p:nvPr/>
        </p:nvCxnSpPr>
        <p:spPr>
          <a:xfrm>
            <a:off x="4359602" y="2817464"/>
            <a:ext cx="424800" cy="0"/>
          </a:xfrm>
          <a:prstGeom prst="straightConnector1">
            <a:avLst/>
          </a:prstGeom>
          <a:noFill/>
          <a:ln w="38100" cap="flat" cmpd="sng">
            <a:solidFill>
              <a:schemeClr val="accent4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18" name="Google Shape;18;p3"/>
          <p:cNvSpPr txBox="1">
            <a:spLocks noGrp="1"/>
          </p:cNvSpPr>
          <p:nvPr>
            <p:ph type="title"/>
          </p:nvPr>
        </p:nvSpPr>
        <p:spPr>
          <a:xfrm>
            <a:off x="480750" y="1764950"/>
            <a:ext cx="8222100" cy="907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endParaRPr/>
          </a:p>
        </p:txBody>
      </p:sp>
      <p:sp>
        <p:nvSpPr>
          <p:cNvPr id="19" name="Google Shape;19;p3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1" name="Google Shape;21;p4"/>
          <p:cNvCxnSpPr/>
          <p:nvPr/>
        </p:nvCxnSpPr>
        <p:spPr>
          <a:xfrm>
            <a:off x="492563" y="1260284"/>
            <a:ext cx="424800" cy="0"/>
          </a:xfrm>
          <a:prstGeom prst="straightConnector1">
            <a:avLst/>
          </a:prstGeom>
          <a:noFill/>
          <a:ln w="38100" cap="flat" cmpd="sng">
            <a:solidFill>
              <a:schemeClr val="accent4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22" name="Google Shape;22;p4"/>
          <p:cNvSpPr txBox="1">
            <a:spLocks noGrp="1"/>
          </p:cNvSpPr>
          <p:nvPr>
            <p:ph type="title"/>
          </p:nvPr>
        </p:nvSpPr>
        <p:spPr>
          <a:xfrm>
            <a:off x="387900" y="458025"/>
            <a:ext cx="8368200" cy="6861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  <p:sp>
        <p:nvSpPr>
          <p:cNvPr id="23" name="Google Shape;23;p4"/>
          <p:cNvSpPr txBox="1">
            <a:spLocks noGrp="1"/>
          </p:cNvSpPr>
          <p:nvPr>
            <p:ph type="body" idx="1"/>
          </p:nvPr>
        </p:nvSpPr>
        <p:spPr>
          <a:xfrm>
            <a:off x="387900" y="1489824"/>
            <a:ext cx="8368200" cy="3078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24" name="Google Shape;24;p4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6" name="Google Shape;26;p5"/>
          <p:cNvCxnSpPr/>
          <p:nvPr/>
        </p:nvCxnSpPr>
        <p:spPr>
          <a:xfrm>
            <a:off x="492563" y="1260284"/>
            <a:ext cx="424800" cy="0"/>
          </a:xfrm>
          <a:prstGeom prst="straightConnector1">
            <a:avLst/>
          </a:prstGeom>
          <a:noFill/>
          <a:ln w="38100" cap="flat" cmpd="sng">
            <a:solidFill>
              <a:schemeClr val="accent4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27" name="Google Shape;27;p5"/>
          <p:cNvSpPr txBox="1">
            <a:spLocks noGrp="1"/>
          </p:cNvSpPr>
          <p:nvPr>
            <p:ph type="title"/>
          </p:nvPr>
        </p:nvSpPr>
        <p:spPr>
          <a:xfrm>
            <a:off x="387900" y="458025"/>
            <a:ext cx="8368200" cy="6861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  <p:sp>
        <p:nvSpPr>
          <p:cNvPr id="28" name="Google Shape;28;p5"/>
          <p:cNvSpPr txBox="1">
            <a:spLocks noGrp="1"/>
          </p:cNvSpPr>
          <p:nvPr>
            <p:ph type="body" idx="1"/>
          </p:nvPr>
        </p:nvSpPr>
        <p:spPr>
          <a:xfrm>
            <a:off x="387900" y="1489825"/>
            <a:ext cx="3999900" cy="3078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9" name="Google Shape;29;p5"/>
          <p:cNvSpPr txBox="1">
            <a:spLocks noGrp="1"/>
          </p:cNvSpPr>
          <p:nvPr>
            <p:ph type="body" idx="2"/>
          </p:nvPr>
        </p:nvSpPr>
        <p:spPr>
          <a:xfrm>
            <a:off x="4756200" y="1489825"/>
            <a:ext cx="3999900" cy="3078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30" name="Google Shape;30;p5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Google Shape;32;p6"/>
          <p:cNvSpPr txBox="1">
            <a:spLocks noGrp="1"/>
          </p:cNvSpPr>
          <p:nvPr>
            <p:ph type="title"/>
          </p:nvPr>
        </p:nvSpPr>
        <p:spPr>
          <a:xfrm>
            <a:off x="387900" y="458025"/>
            <a:ext cx="8368200" cy="6861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  <p:sp>
        <p:nvSpPr>
          <p:cNvPr id="33" name="Google Shape;33;p6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5" name="Google Shape;35;p7"/>
          <p:cNvCxnSpPr/>
          <p:nvPr/>
        </p:nvCxnSpPr>
        <p:spPr>
          <a:xfrm>
            <a:off x="489218" y="1412277"/>
            <a:ext cx="331500" cy="0"/>
          </a:xfrm>
          <a:prstGeom prst="straightConnector1">
            <a:avLst/>
          </a:prstGeom>
          <a:noFill/>
          <a:ln w="38100" cap="flat" cmpd="sng">
            <a:solidFill>
              <a:schemeClr val="accent4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36" name="Google Shape;36;p7"/>
          <p:cNvSpPr txBox="1">
            <a:spLocks noGrp="1"/>
          </p:cNvSpPr>
          <p:nvPr>
            <p:ph type="title"/>
          </p:nvPr>
        </p:nvSpPr>
        <p:spPr>
          <a:xfrm>
            <a:off x="387900" y="555600"/>
            <a:ext cx="2808000" cy="755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37" name="Google Shape;37;p7"/>
          <p:cNvSpPr txBox="1">
            <a:spLocks noGrp="1"/>
          </p:cNvSpPr>
          <p:nvPr>
            <p:ph type="body" idx="1"/>
          </p:nvPr>
        </p:nvSpPr>
        <p:spPr>
          <a:xfrm>
            <a:off x="387900" y="1594025"/>
            <a:ext cx="2808000" cy="2681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38" name="Google Shape;38;p7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Google Shape;40;p8"/>
          <p:cNvSpPr txBox="1">
            <a:spLocks noGrp="1"/>
          </p:cNvSpPr>
          <p:nvPr>
            <p:ph type="title"/>
          </p:nvPr>
        </p:nvSpPr>
        <p:spPr>
          <a:xfrm>
            <a:off x="490250" y="526350"/>
            <a:ext cx="5618700" cy="4090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endParaRPr/>
          </a:p>
        </p:txBody>
      </p:sp>
      <p:sp>
        <p:nvSpPr>
          <p:cNvPr id="41" name="Google Shape;41;p8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Google Shape;43;p9"/>
          <p:cNvSpPr/>
          <p:nvPr/>
        </p:nvSpPr>
        <p:spPr>
          <a:xfrm>
            <a:off x="4572000" y="-75"/>
            <a:ext cx="4572000" cy="51435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cxnSp>
        <p:nvCxnSpPr>
          <p:cNvPr id="44" name="Google Shape;44;p9"/>
          <p:cNvCxnSpPr/>
          <p:nvPr/>
        </p:nvCxnSpPr>
        <p:spPr>
          <a:xfrm>
            <a:off x="5029675" y="4495503"/>
            <a:ext cx="540900" cy="0"/>
          </a:xfrm>
          <a:prstGeom prst="straightConnector1">
            <a:avLst/>
          </a:prstGeom>
          <a:noFill/>
          <a:ln w="38100" cap="flat" cmpd="sng">
            <a:solidFill>
              <a:schemeClr val="accent5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45" name="Google Shape;45;p9"/>
          <p:cNvSpPr txBox="1">
            <a:spLocks noGrp="1"/>
          </p:cNvSpPr>
          <p:nvPr>
            <p:ph type="title"/>
          </p:nvPr>
        </p:nvSpPr>
        <p:spPr>
          <a:xfrm>
            <a:off x="265500" y="1209075"/>
            <a:ext cx="4045200" cy="1506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1pPr>
            <a:lvl2pPr lvl="1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2pPr>
            <a:lvl3pPr lvl="2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3pPr>
            <a:lvl4pPr lvl="3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4pPr>
            <a:lvl5pPr lvl="4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5pPr>
            <a:lvl6pPr lvl="5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6pPr>
            <a:lvl7pPr lvl="6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7pPr>
            <a:lvl8pPr lvl="7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8pPr>
            <a:lvl9pPr lvl="8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9pPr>
          </a:lstStyle>
          <a:p>
            <a:endParaRPr/>
          </a:p>
        </p:txBody>
      </p:sp>
      <p:sp>
        <p:nvSpPr>
          <p:cNvPr id="46" name="Google Shape;46;p9"/>
          <p:cNvSpPr txBox="1">
            <a:spLocks noGrp="1"/>
          </p:cNvSpPr>
          <p:nvPr>
            <p:ph type="subTitle" idx="1"/>
          </p:nvPr>
        </p:nvSpPr>
        <p:spPr>
          <a:xfrm>
            <a:off x="265500" y="2769001"/>
            <a:ext cx="4045200" cy="1345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100"/>
              <a:buNone/>
              <a:defRPr sz="2100">
                <a:solidFill>
                  <a:schemeClr val="accent5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100"/>
              <a:buNone/>
              <a:defRPr sz="2100">
                <a:solidFill>
                  <a:schemeClr val="accent5"/>
                </a:solidFill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100"/>
              <a:buNone/>
              <a:defRPr sz="2100">
                <a:solidFill>
                  <a:schemeClr val="accent5"/>
                </a:solidFill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100"/>
              <a:buNone/>
              <a:defRPr sz="2100">
                <a:solidFill>
                  <a:schemeClr val="accent5"/>
                </a:solidFill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100"/>
              <a:buNone/>
              <a:defRPr sz="2100">
                <a:solidFill>
                  <a:schemeClr val="accent5"/>
                </a:solidFill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100"/>
              <a:buNone/>
              <a:defRPr sz="2100">
                <a:solidFill>
                  <a:schemeClr val="accent5"/>
                </a:solidFill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100"/>
              <a:buNone/>
              <a:defRPr sz="2100">
                <a:solidFill>
                  <a:schemeClr val="accent5"/>
                </a:solidFill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100"/>
              <a:buNone/>
              <a:defRPr sz="2100">
                <a:solidFill>
                  <a:schemeClr val="accent5"/>
                </a:solidFill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100"/>
              <a:buNone/>
              <a:defRPr sz="2100">
                <a:solidFill>
                  <a:schemeClr val="accent5"/>
                </a:solidFill>
              </a:defRPr>
            </a:lvl9pPr>
          </a:lstStyle>
          <a:p>
            <a:endParaRPr/>
          </a:p>
        </p:txBody>
      </p:sp>
      <p:sp>
        <p:nvSpPr>
          <p:cNvPr id="47" name="Google Shape;47;p9"/>
          <p:cNvSpPr txBox="1">
            <a:spLocks noGrp="1"/>
          </p:cNvSpPr>
          <p:nvPr>
            <p:ph type="body" idx="2"/>
          </p:nvPr>
        </p:nvSpPr>
        <p:spPr>
          <a:xfrm>
            <a:off x="4939500" y="724200"/>
            <a:ext cx="3837000" cy="369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8" name="Google Shape;48;p9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10"/>
          <p:cNvSpPr txBox="1">
            <a:spLocks noGrp="1"/>
          </p:cNvSpPr>
          <p:nvPr>
            <p:ph type="body" idx="1"/>
          </p:nvPr>
        </p:nvSpPr>
        <p:spPr>
          <a:xfrm>
            <a:off x="319500" y="4233725"/>
            <a:ext cx="5998800" cy="598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228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Roboto Slab"/>
              <a:buNone/>
              <a:defRPr>
                <a:latin typeface="Roboto Slab"/>
                <a:ea typeface="Roboto Slab"/>
                <a:cs typeface="Roboto Slab"/>
                <a:sym typeface="Roboto Slab"/>
              </a:defRPr>
            </a:lvl1pPr>
          </a:lstStyle>
          <a:p>
            <a:endParaRPr/>
          </a:p>
        </p:txBody>
      </p:sp>
      <p:sp>
        <p:nvSpPr>
          <p:cNvPr id="51" name="Google Shape;51;p10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1" name="Shape 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Google Shape;53;p11"/>
          <p:cNvSpPr/>
          <p:nvPr/>
        </p:nvSpPr>
        <p:spPr>
          <a:xfrm>
            <a:off x="150" y="5076825"/>
            <a:ext cx="9143700" cy="666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4" name="Google Shape;54;p11"/>
          <p:cNvSpPr txBox="1">
            <a:spLocks noGrp="1"/>
          </p:cNvSpPr>
          <p:nvPr>
            <p:ph type="title" hasCustomPrompt="1"/>
          </p:nvPr>
        </p:nvSpPr>
        <p:spPr>
          <a:xfrm>
            <a:off x="387900" y="1152450"/>
            <a:ext cx="8368200" cy="1538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3000"/>
              <a:buNone/>
              <a:defRPr sz="13000">
                <a:solidFill>
                  <a:schemeClr val="accent5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3000"/>
              <a:buNone/>
              <a:defRPr sz="13000">
                <a:solidFill>
                  <a:schemeClr val="accent5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3000"/>
              <a:buNone/>
              <a:defRPr sz="13000">
                <a:solidFill>
                  <a:schemeClr val="accent5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3000"/>
              <a:buNone/>
              <a:defRPr sz="13000">
                <a:solidFill>
                  <a:schemeClr val="accent5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3000"/>
              <a:buNone/>
              <a:defRPr sz="13000">
                <a:solidFill>
                  <a:schemeClr val="accent5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3000"/>
              <a:buNone/>
              <a:defRPr sz="13000">
                <a:solidFill>
                  <a:schemeClr val="accent5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3000"/>
              <a:buNone/>
              <a:defRPr sz="13000">
                <a:solidFill>
                  <a:schemeClr val="accent5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3000"/>
              <a:buNone/>
              <a:defRPr sz="13000">
                <a:solidFill>
                  <a:schemeClr val="accent5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3000"/>
              <a:buNone/>
              <a:defRPr sz="13000">
                <a:solidFill>
                  <a:schemeClr val="accent5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55" name="Google Shape;55;p11"/>
          <p:cNvSpPr txBox="1">
            <a:spLocks noGrp="1"/>
          </p:cNvSpPr>
          <p:nvPr>
            <p:ph type="body" idx="1"/>
          </p:nvPr>
        </p:nvSpPr>
        <p:spPr>
          <a:xfrm>
            <a:off x="387900" y="2919450"/>
            <a:ext cx="8368200" cy="1071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56" name="Google Shape;56;p1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p1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marina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387900" y="458025"/>
            <a:ext cx="8368200" cy="68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 Slab"/>
              <a:buNone/>
              <a:defRPr sz="3000">
                <a:solidFill>
                  <a:schemeClr val="dk1"/>
                </a:solidFill>
                <a:latin typeface="Roboto Slab"/>
                <a:ea typeface="Roboto Slab"/>
                <a:cs typeface="Roboto Slab"/>
                <a:sym typeface="Roboto Slab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 Slab"/>
              <a:buNone/>
              <a:defRPr sz="3000">
                <a:solidFill>
                  <a:schemeClr val="dk1"/>
                </a:solidFill>
                <a:latin typeface="Roboto Slab"/>
                <a:ea typeface="Roboto Slab"/>
                <a:cs typeface="Roboto Slab"/>
                <a:sym typeface="Roboto Slab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 Slab"/>
              <a:buNone/>
              <a:defRPr sz="3000">
                <a:solidFill>
                  <a:schemeClr val="dk1"/>
                </a:solidFill>
                <a:latin typeface="Roboto Slab"/>
                <a:ea typeface="Roboto Slab"/>
                <a:cs typeface="Roboto Slab"/>
                <a:sym typeface="Roboto Slab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 Slab"/>
              <a:buNone/>
              <a:defRPr sz="3000">
                <a:solidFill>
                  <a:schemeClr val="dk1"/>
                </a:solidFill>
                <a:latin typeface="Roboto Slab"/>
                <a:ea typeface="Roboto Slab"/>
                <a:cs typeface="Roboto Slab"/>
                <a:sym typeface="Roboto Slab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 Slab"/>
              <a:buNone/>
              <a:defRPr sz="3000">
                <a:solidFill>
                  <a:schemeClr val="dk1"/>
                </a:solidFill>
                <a:latin typeface="Roboto Slab"/>
                <a:ea typeface="Roboto Slab"/>
                <a:cs typeface="Roboto Slab"/>
                <a:sym typeface="Roboto Slab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 Slab"/>
              <a:buNone/>
              <a:defRPr sz="3000">
                <a:solidFill>
                  <a:schemeClr val="dk1"/>
                </a:solidFill>
                <a:latin typeface="Roboto Slab"/>
                <a:ea typeface="Roboto Slab"/>
                <a:cs typeface="Roboto Slab"/>
                <a:sym typeface="Roboto Slab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 Slab"/>
              <a:buNone/>
              <a:defRPr sz="3000">
                <a:solidFill>
                  <a:schemeClr val="dk1"/>
                </a:solidFill>
                <a:latin typeface="Roboto Slab"/>
                <a:ea typeface="Roboto Slab"/>
                <a:cs typeface="Roboto Slab"/>
                <a:sym typeface="Roboto Slab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 Slab"/>
              <a:buNone/>
              <a:defRPr sz="3000">
                <a:solidFill>
                  <a:schemeClr val="dk1"/>
                </a:solidFill>
                <a:latin typeface="Roboto Slab"/>
                <a:ea typeface="Roboto Slab"/>
                <a:cs typeface="Roboto Slab"/>
                <a:sym typeface="Roboto Slab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 Slab"/>
              <a:buNone/>
              <a:defRPr sz="3000">
                <a:solidFill>
                  <a:schemeClr val="dk1"/>
                </a:solidFill>
                <a:latin typeface="Roboto Slab"/>
                <a:ea typeface="Roboto Slab"/>
                <a:cs typeface="Roboto Slab"/>
                <a:sym typeface="Roboto Slab"/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387900" y="1489824"/>
            <a:ext cx="8368200" cy="307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"/>
              <a:buChar char="●"/>
              <a:defRPr sz="18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marL="914400" lvl="1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Char char="○"/>
              <a:defRPr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marL="1371600" lvl="2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Char char="■"/>
              <a:defRPr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marL="1828800" lvl="3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Char char="●"/>
              <a:defRPr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marL="2286000" lvl="4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Char char="○"/>
              <a:defRPr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marL="2743200" lvl="5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Char char="■"/>
              <a:defRPr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marL="3200400" lvl="6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Char char="●"/>
              <a:defRPr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marL="3657600" lvl="7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Char char="○"/>
              <a:defRPr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marL="4114800" lvl="8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Char char="■"/>
              <a:defRPr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r">
              <a:buNone/>
              <a:defRPr sz="1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lvl="1" algn="r">
              <a:buNone/>
              <a:defRPr sz="1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lvl="2" algn="r">
              <a:buNone/>
              <a:defRPr sz="1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lvl="3" algn="r">
              <a:buNone/>
              <a:defRPr sz="1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lvl="4" algn="r">
              <a:buNone/>
              <a:defRPr sz="1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lvl="5" algn="r">
              <a:buNone/>
              <a:defRPr sz="1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lvl="6" algn="r">
              <a:buNone/>
              <a:defRPr sz="1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lvl="7" algn="r">
              <a:buNone/>
              <a:defRPr sz="1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lvl="8" algn="r">
              <a:buNone/>
              <a:defRPr sz="1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p13"/>
          <p:cNvSpPr txBox="1">
            <a:spLocks noGrp="1"/>
          </p:cNvSpPr>
          <p:nvPr>
            <p:ph type="ctrTitle"/>
          </p:nvPr>
        </p:nvSpPr>
        <p:spPr>
          <a:xfrm>
            <a:off x="1680302" y="1188925"/>
            <a:ext cx="5783400" cy="14574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/>
          <a:p>
            <a:r>
              <a:t>AI-Powered Collections Strategy</a:t>
            </a:r>
          </a:p>
        </p:txBody>
      </p:sp>
      <p:sp>
        <p:nvSpPr>
          <p:cNvPr id="64" name="Google Shape;64;p13"/>
          <p:cNvSpPr txBox="1">
            <a:spLocks noGrp="1"/>
          </p:cNvSpPr>
          <p:nvPr>
            <p:ph type="subTitle" idx="1"/>
          </p:nvPr>
        </p:nvSpPr>
        <p:spPr>
          <a:xfrm>
            <a:off x="1680302" y="3049450"/>
            <a:ext cx="5783400" cy="909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85000"/>
          </a:bodyPr>
          <a:lstStyle/>
          <a:p>
            <a:pPr marL="0" indent="0" algn="ctr" rtl="0">
              <a:spcBef>
                <a:spcPts val="0"/>
              </a:spcBef>
              <a:spcAft>
                <a:spcPts val="0"/>
              </a:spcAft>
              <a:buNone/>
              <a:defRPr sz="2200"/>
            </a:pPr>
            <a:r>
              <a:t>Inputs: Customer demographics, income, credit score, credit utilization, repayment history.</a:t>
            </a:r>
            <a:endParaRPr/>
          </a:p>
          <a:p>
            <a:pPr>
              <a:defRPr sz="2200"/>
            </a:pPr>
            <a:r>
              <a:t>Decision Logic: Logistic Regression risk score + business rules classify customers into low, medium, or high risk.</a:t>
            </a:r>
          </a:p>
          <a:p>
            <a:pPr>
              <a:defRPr sz="2200"/>
            </a:pPr>
            <a:r>
              <a:t>Actions: Payment reminders, repayment plans, escalation for high-risk customers.</a:t>
            </a:r>
          </a:p>
          <a:p>
            <a:pPr>
              <a:defRPr sz="2200"/>
            </a:pPr>
            <a:r>
              <a:t>Learning Loop: Monitor outcomes, retrain model, and update decision rules.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4"/>
          <p:cNvSpPr txBox="1">
            <a:spLocks noGrp="1"/>
          </p:cNvSpPr>
          <p:nvPr>
            <p:ph type="title"/>
          </p:nvPr>
        </p:nvSpPr>
        <p:spPr>
          <a:xfrm>
            <a:off x="387900" y="458025"/>
            <a:ext cx="8368200" cy="6861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/>
          <a:p>
            <a:r>
              <a:t>System Workflow</a:t>
            </a:r>
          </a:p>
        </p:txBody>
      </p:sp>
      <p:sp>
        <p:nvSpPr>
          <p:cNvPr id="70" name="Google Shape;70;p14"/>
          <p:cNvSpPr txBox="1">
            <a:spLocks noGrp="1"/>
          </p:cNvSpPr>
          <p:nvPr>
            <p:ph type="body" idx="1"/>
          </p:nvPr>
        </p:nvSpPr>
        <p:spPr>
          <a:xfrm>
            <a:off x="387900" y="1489824"/>
            <a:ext cx="8368200" cy="3078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>
              <a:buFont typeface="Arial" panose="020B0604020202020204" pitchFamily="34" charset="0"/>
              <a:buChar char="•"/>
              <a:defRPr sz="2200"/>
            </a:pPr>
            <a:r>
              <a:t>1. Collect customer data</a:t>
            </a:r>
          </a:p>
          <a:p>
            <a:pPr>
              <a:defRPr sz="2200"/>
            </a:pPr>
            <a:r>
              <a:t>2. Predict delinquency risk</a:t>
            </a:r>
          </a:p>
          <a:p>
            <a:pPr>
              <a:defRPr sz="2200"/>
            </a:pPr>
            <a:r>
              <a:t>3. Trigger personalized collection actions</a:t>
            </a:r>
          </a:p>
          <a:p>
            <a:pPr>
              <a:defRPr sz="2200"/>
            </a:pPr>
            <a:r>
              <a:t>4. Learn from repayment outcomes to improve future predictions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6"/>
          <p:cNvSpPr txBox="1">
            <a:spLocks noGrp="1"/>
          </p:cNvSpPr>
          <p:nvPr>
            <p:ph type="title"/>
          </p:nvPr>
        </p:nvSpPr>
        <p:spPr>
          <a:xfrm>
            <a:off x="387900" y="458025"/>
            <a:ext cx="8368200" cy="6861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/>
          <a:p>
            <a:r>
              <a:t>Role of Agentic AI</a:t>
            </a:r>
          </a:p>
        </p:txBody>
      </p:sp>
      <p:sp>
        <p:nvSpPr>
          <p:cNvPr id="82" name="Google Shape;82;p16"/>
          <p:cNvSpPr txBox="1">
            <a:spLocks noGrp="1"/>
          </p:cNvSpPr>
          <p:nvPr>
            <p:ph type="body" idx="1"/>
          </p:nvPr>
        </p:nvSpPr>
        <p:spPr>
          <a:xfrm>
            <a:off x="387900" y="1489824"/>
            <a:ext cx="8368200" cy="3078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>
              <a:buNone/>
            </a:pPr>
            <a:r>
              <a:rPr lang="en-GB" dirty="0"/>
              <a:t>Explain which parts of the system will operate autonomously and which require human oversight. Consider: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dirty="0"/>
              <a:t>Fully automated decisions (e.g., sending a reminder email)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dirty="0"/>
              <a:t>Human-reviewed actions (e.g., offering personalized hardship plans)</a:t>
            </a:r>
          </a:p>
        </p:txBody>
      </p:sp>
      <p:graphicFrame>
        <p:nvGraphicFramePr>
          <p:cNvPr id="83" name="Table 82"/>
          <p:cNvGraphicFramePr>
            <a:graphicFrameLocks noGrp="1"/>
          </p:cNvGraphicFramePr>
          <p:nvPr/>
        </p:nvGraphicFramePr>
        <p:xfrm>
          <a:off x="548640" y="1097280"/>
          <a:ext cx="7498079" cy="2743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749039"/>
                <a:gridCol w="3749040"/>
              </a:tblGrid>
              <a:tr h="548640">
                <a:tc>
                  <a:txBody>
                    <a:bodyPr/>
                    <a:lstStyle/>
                    <a:p>
                      <a:r>
                        <a:t>Autonomous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Human Oversight</a:t>
                      </a:r>
                    </a:p>
                  </a:txBody>
                  <a:tcPr/>
                </a:tc>
              </a:tr>
              <a:tr h="548640">
                <a:tc>
                  <a:txBody>
                    <a:bodyPr/>
                    <a:lstStyle/>
                    <a:p>
                      <a:r>
                        <a:t>Risk scoring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Approve hardship plans</a:t>
                      </a:r>
                    </a:p>
                  </a:txBody>
                  <a:tcPr/>
                </a:tc>
              </a:tr>
              <a:tr h="548640">
                <a:tc>
                  <a:txBody>
                    <a:bodyPr/>
                    <a:lstStyle/>
                    <a:p>
                      <a:r>
                        <a:t>Payment reminders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Handle disputes</a:t>
                      </a:r>
                    </a:p>
                  </a:txBody>
                  <a:tcPr/>
                </a:tc>
              </a:tr>
              <a:tr h="548640">
                <a:tc>
                  <a:txBody>
                    <a:bodyPr/>
                    <a:lstStyle/>
                    <a:p>
                      <a:r>
                        <a:t>Routine follow-ups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Review high-risk cases</a:t>
                      </a:r>
                    </a:p>
                  </a:txBody>
                  <a:tcPr/>
                </a:tc>
              </a:tr>
              <a:tr h="548640">
                <a:tc>
                  <a:txBody>
                    <a:bodyPr/>
                    <a:lstStyle/>
                    <a:p>
                      <a:r>
                        <a:t>Performance monitoring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Audit model decisions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p17"/>
          <p:cNvSpPr txBox="1">
            <a:spLocks noGrp="1"/>
          </p:cNvSpPr>
          <p:nvPr>
            <p:ph type="title"/>
          </p:nvPr>
        </p:nvSpPr>
        <p:spPr>
          <a:xfrm>
            <a:off x="387900" y="458025"/>
            <a:ext cx="8368200" cy="6861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/>
          <a:p>
            <a:r>
              <a:t>Responsible AI Guardrails</a:t>
            </a:r>
          </a:p>
        </p:txBody>
      </p:sp>
      <p:sp>
        <p:nvSpPr>
          <p:cNvPr id="89" name="Google Shape;89;p17"/>
          <p:cNvSpPr txBox="1">
            <a:spLocks noGrp="1"/>
          </p:cNvSpPr>
          <p:nvPr>
            <p:ph type="body" idx="1"/>
          </p:nvPr>
        </p:nvSpPr>
        <p:spPr>
          <a:xfrm>
            <a:off x="387900" y="1489824"/>
            <a:ext cx="8368200" cy="3078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>
              <a:buNone/>
              <a:defRPr sz="2200"/>
            </a:pPr>
            <a:r>
              <a:t>Fairness testing across customer groups.</a:t>
            </a:r>
          </a:p>
          <a:p>
            <a:pPr>
              <a:defRPr sz="2200"/>
            </a:pPr>
            <a:r>
              <a:t>Explainable predictions using feature importance/SHAP.</a:t>
            </a:r>
          </a:p>
          <a:p>
            <a:pPr>
              <a:defRPr sz="2200"/>
            </a:pPr>
            <a:r>
              <a:t>Compliance with privacy and financial regulations.</a:t>
            </a:r>
          </a:p>
          <a:p>
            <a:pPr>
              <a:defRPr sz="2200"/>
            </a:pPr>
            <a:r>
              <a:t>Human review for high-impact decisions and regular model audits.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p18"/>
          <p:cNvSpPr txBox="1">
            <a:spLocks noGrp="1"/>
          </p:cNvSpPr>
          <p:nvPr>
            <p:ph type="title"/>
          </p:nvPr>
        </p:nvSpPr>
        <p:spPr>
          <a:xfrm>
            <a:off x="387900" y="458025"/>
            <a:ext cx="8368200" cy="6861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/>
          <a:p>
            <a:r>
              <a:t>Expected Business Impact</a:t>
            </a:r>
          </a:p>
        </p:txBody>
      </p:sp>
      <p:sp>
        <p:nvSpPr>
          <p:cNvPr id="95" name="Google Shape;95;p18"/>
          <p:cNvSpPr txBox="1">
            <a:spLocks noGrp="1"/>
          </p:cNvSpPr>
          <p:nvPr>
            <p:ph type="body" idx="1"/>
          </p:nvPr>
        </p:nvSpPr>
        <p:spPr>
          <a:xfrm>
            <a:off x="387900" y="1489824"/>
            <a:ext cx="8368200" cy="3078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>
              <a:buNone/>
              <a:defRPr sz="2200"/>
            </a:pPr>
            <a:r>
              <a:t>Business KPIs: 15% lower delinquency, higher repayment rates, reduced collection costs, faster processing.</a:t>
            </a:r>
          </a:p>
          <a:p>
            <a:pPr>
              <a:defRPr sz="2200"/>
            </a:pPr>
            <a:r>
              <a:t>Customer Outcomes: Fair treatment, personalized support, better experience, increased trust and transparency.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6C1373-ECCB-8893-C88B-952E4955965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[Feel free to add more slides throughout]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6259607-54F3-CE30-20BB-21D4536BE7C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90219242"/>
      </p:ext>
    </p:extLst>
  </p:cSld>
  <p:clrMapOvr>
    <a:masterClrMapping/>
  </p:clrMapOvr>
</p:sld>
</file>

<file path=ppt/theme/theme1.xml><?xml version="1.0" encoding="utf-8"?>
<a:theme xmlns:a="http://schemas.openxmlformats.org/drawingml/2006/main" name="Marina">
  <a:themeElements>
    <a:clrScheme name="Marina">
      <a:dk1>
        <a:srgbClr val="FFFFFF"/>
      </a:dk1>
      <a:lt1>
        <a:srgbClr val="00517C"/>
      </a:lt1>
      <a:dk2>
        <a:srgbClr val="004065"/>
      </a:dk2>
      <a:lt2>
        <a:srgbClr val="CFD8DC"/>
      </a:lt2>
      <a:accent1>
        <a:srgbClr val="0277BD"/>
      </a:accent1>
      <a:accent2>
        <a:srgbClr val="558B2F"/>
      </a:accent2>
      <a:accent3>
        <a:srgbClr val="009688"/>
      </a:accent3>
      <a:accent4>
        <a:srgbClr val="039BE5"/>
      </a:accent4>
      <a:accent5>
        <a:srgbClr val="8BC34A"/>
      </a:accent5>
      <a:accent6>
        <a:srgbClr val="FFEB38"/>
      </a:accent6>
      <a:hlink>
        <a:srgbClr val="8BC34A"/>
      </a:hlink>
      <a:folHlink>
        <a:srgbClr val="8BC34A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49</TotalTime>
  <Words>473</Words>
  <Application>Microsoft Macintosh PowerPoint</Application>
  <PresentationFormat>On-screen Show (16:9)</PresentationFormat>
  <Paragraphs>36</Paragraphs>
  <Slides>6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0" baseType="lpstr">
      <vt:lpstr>Arial</vt:lpstr>
      <vt:lpstr>Roboto Slab</vt:lpstr>
      <vt:lpstr>Roboto</vt:lpstr>
      <vt:lpstr>Marina</vt:lpstr>
      <vt:lpstr>AI-Powered Collections Strategy</vt:lpstr>
      <vt:lpstr>How the System Works</vt:lpstr>
      <vt:lpstr>Role of Agentic AI</vt:lpstr>
      <vt:lpstr>Responsible AI Guardrails</vt:lpstr>
      <vt:lpstr>Expected Business Impact</vt:lpstr>
      <vt:lpstr>[Feel free to add more slides throughout]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Tran, Tammy</cp:lastModifiedBy>
  <cp:revision>2</cp:revision>
  <dcterms:modified xsi:type="dcterms:W3CDTF">2025-04-29T13:27:36Z</dcterms:modified>
</cp:coreProperties>
</file>